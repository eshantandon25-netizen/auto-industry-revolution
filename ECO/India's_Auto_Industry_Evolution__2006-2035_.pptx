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7" r:id="rId4"/>
    <p:sldId id="258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5" r:id="rId15"/>
    <p:sldId id="271" r:id="rId16"/>
    <p:sldId id="272" r:id="rId17"/>
    <p:sldId id="273" r:id="rId18"/>
    <p:sldId id="274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751"/>
  </p:normalViewPr>
  <p:slideViewPr>
    <p:cSldViewPr snapToGrid="0" snapToObjects="1">
      <p:cViewPr varScale="1">
        <p:scale>
          <a:sx n="116" d="100"/>
          <a:sy n="116" d="100"/>
        </p:scale>
        <p:origin x="208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29CD9-9443-D84B-9DC4-0EF587422CFF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AE4E6-D48B-974D-962B-75076C32F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0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AE4E6-D48B-974D-962B-75076C32F4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53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AE4E6-D48B-974D-962B-75076C32F4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74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AE4E6-D48B-974D-962B-75076C32F46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94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AE4E6-D48B-974D-962B-75076C32F46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51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5437" y="2324100"/>
            <a:ext cx="9001125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0F172A"/>
                </a:solidFill>
                <a:latin typeface="Poppins"/>
              </a:rPr>
              <a:t>India's Auto Industry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3977580"/>
            <a:ext cx="85725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64748B"/>
                </a:solidFill>
                <a:latin typeface="Lato"/>
              </a:rPr>
              <a:t>Market Transformation, Economic Realities, and the Road to 2035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544216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05526" y="2868066"/>
            <a:ext cx="7580947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oppins"/>
              </a:rPr>
              <a:t>Two Decades of Disruption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68191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How stringent regulations, expanding financing, and shifting fuel economics transformed the world's most dynamic mobility market (2006–2026).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2729"/>
            <a:ext cx="3422600" cy="378886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625" y="2072729"/>
            <a:ext cx="3422600" cy="37888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225" y="2072729"/>
            <a:ext cx="3422600" cy="37888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139529"/>
            <a:ext cx="166020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3rd Largest, Yet...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768179"/>
            <a:ext cx="283205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Lato"/>
              </a:rPr>
              <a:t>India is the world's 3rd-largest auto market by volume — yet has only about 34 cars for every 1,000 people, versus roughly 850 in the US. This is a story of scale, not saturation.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9900" y="2810636"/>
            <a:ext cx="2030253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i="0" u="none" dirty="0">
                <a:solidFill>
                  <a:srgbClr val="0F172A"/>
                </a:solidFill>
                <a:latin typeface="Poppins SemiBold"/>
              </a:rPr>
              <a:t>A Two-Wheeler 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9900" y="3768179"/>
            <a:ext cx="283205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Lato"/>
              </a:rPr>
              <a:t>Roughly 3 out of every 4 vehicles sold in India each year are two-wheelers. The country's real automotive story is playing out on two wheels, not four.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5166" y="3010661"/>
            <a:ext cx="2050256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i="0" u="none" dirty="0">
                <a:solidFill>
                  <a:srgbClr val="0F172A"/>
                </a:solidFill>
                <a:latin typeface="Poppins SemiBold"/>
              </a:rPr>
              <a:t>EVs: Two Wheels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5166" y="3682454"/>
            <a:ext cx="2832050" cy="1094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sz="1350" b="0" i="0" u="none" dirty="0">
                <a:solidFill>
                  <a:srgbClr val="475569"/>
                </a:solidFill>
                <a:latin typeface="Lato"/>
              </a:rPr>
              <a:t>Electric two-wheelers already make up close to 7% of two-wheeler sales — more than double the electric share of new car sales in India.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529929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900" y="2306092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3500" y="2529929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India's Auto Market: By the Numbers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247775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4138612"/>
            <a:ext cx="110299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4443412"/>
            <a:ext cx="236357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4833937"/>
            <a:ext cx="225102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Efficiency Standards: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Bureau of Energy Efficiency notifies India's first mandatory fuel-efficiency (CAFE) standards for passenger vehicles.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54908" y="2538412"/>
            <a:ext cx="236357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4908" y="2928937"/>
            <a:ext cx="22510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Safety &amp; Tax Rollout: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Nationwide GST simplifies logistics. Mandatory crash-test norms begin phasing in after poor Global NCAP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5917" y="4443412"/>
            <a:ext cx="236357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5917" y="4833937"/>
            <a:ext cx="22510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The Emission Leap: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India leapfrogs directly from BS-IV to BS-VI, forcing a massive, expensive re-engineering of all fuel vehicles.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16925" y="2338387"/>
            <a:ext cx="236357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6925" y="2728912"/>
            <a:ext cx="225102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Policy Push: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Launch of the National Vehicle Scrappage Policy and a multi-billion dollar PLI scheme for advanced batteries and components.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5112" y="40433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66121" y="40433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97129" y="40433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228138" y="40433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Regulatory &amp; Market Milestones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247775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898451"/>
            <a:ext cx="5229225" cy="413742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898451"/>
            <a:ext cx="5229225" cy="41374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9175" y="2288976"/>
            <a:ext cx="46205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2006: The Utility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75" y="2879526"/>
            <a:ext cx="44005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Purchasing decisions were heavily constrained by upfront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9900" y="2288976"/>
            <a:ext cx="462057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2026: The Value 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0" y="2879526"/>
            <a:ext cx="44005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Consumers now evaluate the Total Cost of Ownership (TCO) and lifestyle image.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57002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3570982"/>
            <a:ext cx="4162425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Primary Focus: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Upfront price and maximum mileage ("Kitna deti hai?").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4261485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262437"/>
            <a:ext cx="4162425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Brand Image: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Trust meant reliability and cheap service networks.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952940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4953892"/>
            <a:ext cx="4162425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Afterthoughts: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Safety features and premium infotainment were barely discussed in showrooms.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357002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8025" y="3570982"/>
            <a:ext cx="4162425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Primary Focus: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5-star NCAP safety ratings, connected tech, and automatic transmissions.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4261485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8025" y="4262437"/>
            <a:ext cx="4162425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Economic Shift: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Willingness to pay a premium for features and safety, moving demand toward SUVs.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4952940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8025" y="4953892"/>
            <a:ext cx="4162425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Lato"/>
              </a:rPr>
              <a:t>Awareness: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Fuel efficiency remains important, but is balanced against high-tech utility.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The Consumer Paradigm Shift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" y="1247775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" y="4138612"/>
            <a:ext cx="110299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3900" y="4443412"/>
            <a:ext cx="236357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4833937"/>
            <a:ext cx="2251025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The Launch: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Tata unveils the Nano as the “world’s cheapest car” at ₹1 lakh — roughly 206,000 pre-orders pour in during the first booking window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0413" y="2538412"/>
            <a:ext cx="236357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2011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0413" y="2928937"/>
            <a:ext cx="22510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The Peak: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Monthly sales top out around 9,000 units — modest for a mass-market bet, and already sliding as safety scares and brand stigma set 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16925" y="4443412"/>
            <a:ext cx="236357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6925" y="4833937"/>
            <a:ext cx="22510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The Collapse: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Tata builds just 1 Nano in June before quietly discontinuing the line — down from tens of thousands of pre-launch orders a decade earlier.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5112" y="40433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81625" y="40433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28138" y="404336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The Cheapest Car That Couldn’t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247775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025" y="6120130"/>
            <a:ext cx="11029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u="none">
                <a:solidFill>
                  <a:srgbClr val="475569"/>
                </a:solidFill>
                <a:latin typeface="Lato"/>
              </a:rPr>
              <a:t>The lesson: in a brand-conscious market, positioning a product as “cheapest” can cost more than its price tag.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062162"/>
            <a:ext cx="522922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9150" y="2062162"/>
            <a:ext cx="4991100" cy="819583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sz="1600" b="1" i="0" u="none" dirty="0">
                <a:solidFill>
                  <a:srgbClr val="475569"/>
                </a:solidFill>
                <a:latin typeface="Lato"/>
              </a:rPr>
              <a:t>Historical Context (2006):</a:t>
            </a:r>
            <a:r>
              <a:rPr sz="1600" b="0" i="0" u="none" dirty="0">
                <a:solidFill>
                  <a:srgbClr val="475569"/>
                </a:solidFill>
                <a:latin typeface="Lato"/>
              </a:rPr>
              <a:t> Consumers preferred cash purchases or conservative bank loans. Debt was minimized.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140320"/>
            <a:ext cx="4991100" cy="819583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sz="1600" b="1" i="0" u="none" dirty="0">
                <a:solidFill>
                  <a:srgbClr val="475569"/>
                </a:solidFill>
                <a:latin typeface="Lato"/>
              </a:rPr>
              <a:t>The EMI Revolution:</a:t>
            </a:r>
            <a:r>
              <a:rPr sz="1600" b="0" i="0" u="none" dirty="0">
                <a:solidFill>
                  <a:srgbClr val="475569"/>
                </a:solidFill>
                <a:latin typeface="Lato"/>
              </a:rPr>
              <a:t> Today, low down payments, app-based loans, and long-term dealer financing are completely normalized.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218478"/>
            <a:ext cx="499110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1" i="0" u="none" dirty="0">
                <a:solidFill>
                  <a:srgbClr val="475569"/>
                </a:solidFill>
                <a:latin typeface="Lato"/>
              </a:rPr>
              <a:t>Economic Concept (Credit Expansion):</a:t>
            </a:r>
            <a:r>
              <a:rPr sz="1600" b="0" i="0" u="none" dirty="0">
                <a:solidFill>
                  <a:srgbClr val="475569"/>
                </a:solidFill>
                <a:latin typeface="Lato"/>
              </a:rPr>
              <a:t> Easy access to credit structurally shifted purchasing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5025633"/>
            <a:ext cx="4991100" cy="11017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>
              <a:lnSpc>
                <a:spcPts val="2160"/>
              </a:lnSpc>
            </a:pPr>
            <a:r>
              <a:rPr sz="1600" b="1" i="0" u="none" dirty="0">
                <a:solidFill>
                  <a:srgbClr val="475569"/>
                </a:solidFill>
                <a:latin typeface="Lato"/>
              </a:rPr>
              <a:t>Market Impact:</a:t>
            </a:r>
            <a:r>
              <a:rPr sz="1600" b="0" i="0" u="none" dirty="0">
                <a:solidFill>
                  <a:srgbClr val="475569"/>
                </a:solidFill>
                <a:latin typeface="Lato"/>
              </a:rPr>
              <a:t> This financial leverage makes higher-priced vehicles feel "affordable," directly driving the massive market shift from entry-level hatchbacks to premium SUVs.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062162"/>
            <a:ext cx="5229225" cy="381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Credit Expansion &amp; Affordability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247775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350615"/>
            <a:ext cx="11029950" cy="523324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332362"/>
            <a:ext cx="8572500" cy="11086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74290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Fuel Price Economics &amp; Demand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941040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1025" y="581025"/>
            <a:ext cx="554069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Dealership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1025" y="1247775"/>
            <a:ext cx="52768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657350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The Analog Past: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In 2006, operations relied on manual ledgers and walk-in sales. Competition was localized to single-brand dealers and neighborhood garages.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754510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The Digital Present: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Today, the primary sales funnel is online discovery. Operations require automated CRMs, tech-trained staff, and app-driven service updates.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851671"/>
            <a:ext cx="52768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The 2035 Vision: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Dealerships will evolve into "Integrated Mobility Hubs." Primary revenue will shift from vehicle sales and oil changes to EV fleet management and software diagnostics.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3500" y="1544091"/>
            <a:ext cx="9525000" cy="13772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00250" y="1782216"/>
            <a:ext cx="8572500" cy="901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Internalizing Pollution Costs (BS-VI Leap)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The aggressive jump from BS-IV directly to BS-VI forced automakers to localize advanced hardware. This structural disruption priced out legacy diesel engines and heavily hiked overall vehicle costs.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33500" y="1544091"/>
            <a:ext cx="38100" cy="137725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33500" y="3159472"/>
            <a:ext cx="9525000" cy="13772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250" y="3397597"/>
            <a:ext cx="8572500" cy="901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Accelerating Replacement (Scrappage Policy)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By mandating fitness tests for older vehicles, government policy dictates exactly how long consumers keep a car, artificially accelerating the fleet replacement cycle toward cleaner technologies.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159472"/>
            <a:ext cx="38100" cy="137725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33500" y="4774852"/>
            <a:ext cx="9525000" cy="13772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00250" y="5012977"/>
            <a:ext cx="8572500" cy="901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Lato"/>
              </a:rPr>
              <a:t>Supply-Side Intervention (PLI Scheme)</a:t>
            </a:r>
            <a:r>
              <a:rPr sz="1350" b="0" i="0" u="none">
                <a:solidFill>
                  <a:srgbClr val="475569"/>
                </a:solidFill>
                <a:latin typeface="Lato"/>
              </a:rPr>
              <a:t> To correct market bottlenecks, the government introduced a multi-billion dollar PLI scheme for advanced battery storage, aiming to localize manufacturing and lower the supply curve for EV tech.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4774852"/>
            <a:ext cx="38100" cy="137725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801266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3416647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25" y="5032027"/>
            <a:ext cx="25717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67766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The Regulatory Push (Correcting Externalities)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134516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072729"/>
            <a:ext cx="3422600" cy="378886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625" y="2072729"/>
            <a:ext cx="3422600" cy="37888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225" y="2072729"/>
            <a:ext cx="3422600" cy="37888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139529"/>
            <a:ext cx="166020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Pull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682454"/>
            <a:ext cx="283205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Consumers are highly drawn by ultra-low per-km running costs, a smooth driving experience, FAME subsidies, and the lifestyle image of driving connected, green tech.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9900" y="3139529"/>
            <a:ext cx="203025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Friction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9900" y="3682454"/>
            <a:ext cx="2832050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Adoption is currently bottlenecked by high upfront premiums, intense highway range anxiety, and a severe lack of charging infrastructure in residential apartment complexes.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3500" y="3139529"/>
            <a:ext cx="205025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Market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3500" y="3682454"/>
            <a:ext cx="283205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Lato"/>
              </a:rPr>
              <a:t>While policy subsidies offer real financial incentives, the uncertainty surrounding battery replacement costs and used-EV resale value continues to make mass-market buyers hesitate.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529929"/>
            <a:ext cx="333375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9900" y="2529929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3500" y="2529929"/>
            <a:ext cx="47625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The EV Equation (Consumer View)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247775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335434"/>
            <a:ext cx="11029950" cy="526345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5621684"/>
            <a:ext cx="8572500" cy="8343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59109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2035 Fleet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" y="925859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2253704"/>
            <a:ext cx="3422600" cy="3426916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625" y="2253704"/>
            <a:ext cx="3422600" cy="34269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225" y="2253704"/>
            <a:ext cx="3422600" cy="34269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53704"/>
            <a:ext cx="3422600" cy="1905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625" y="2253704"/>
            <a:ext cx="34226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225" y="2253704"/>
            <a:ext cx="3422600" cy="190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4349204"/>
            <a:ext cx="359373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1. Localize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06404"/>
            <a:ext cx="34226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Leverage PLI schemes to localize advanced components and offset the high upfront costs of EV and BS-VII hardware.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4625" y="4349204"/>
            <a:ext cx="359373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2. Diversify Powertrains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4625" y="4806404"/>
            <a:ext cx="34226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Adapt or perish. Manufacturers must heavily invest in hybrids and EVs to survive the replacement cycle triggered by scrappage laws.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8225" y="4349204"/>
            <a:ext cx="359373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3. Service Transition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8225" y="4806404"/>
            <a:ext cx="34226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Retrain dealership networks to handle software diagnostics and high-voltage bays as traditional maintenance revenues decline.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2263229"/>
            <a:ext cx="3403550" cy="18859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150" y="2263229"/>
            <a:ext cx="3403550" cy="1885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750" y="2263229"/>
            <a:ext cx="3403550" cy="18859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Strategic Imperatives for Automakers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1247775"/>
            <a:ext cx="1102995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28A1CC0-CFA2-447B-9B8A-0C3D531A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4C47DC-1CE7-B03A-D790-E7ABC886BECF}"/>
              </a:ext>
            </a:extLst>
          </p:cNvPr>
          <p:cNvSpPr txBox="1"/>
          <p:nvPr/>
        </p:nvSpPr>
        <p:spPr>
          <a:xfrm>
            <a:off x="1549100" y="2921168"/>
            <a:ext cx="34747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31003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5326" y="2786594"/>
            <a:ext cx="1076134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 dirty="0">
                <a:solidFill>
                  <a:srgbClr val="2563EB"/>
                </a:solidFill>
                <a:latin typeface="Poppins"/>
              </a:rPr>
              <a:t>20 Years of Market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4660" y="3922004"/>
            <a:ext cx="616267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 dirty="0">
                <a:solidFill>
                  <a:srgbClr val="475569"/>
                </a:solidFill>
                <a:latin typeface="Lato"/>
              </a:rPr>
              <a:t>India's Automobile Industry — Fuel Vehicles (2006–2026)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1947" y="4762832"/>
            <a:ext cx="3848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1" u="none" dirty="0">
                <a:solidFill>
                  <a:srgbClr val="475569"/>
                </a:solidFill>
                <a:latin typeface="Lato"/>
              </a:rPr>
              <a:t>Executive Report | Group 3 — Managerial Economics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35931"/>
            <a:ext cx="5286375" cy="41957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735931"/>
            <a:ext cx="5286375" cy="41957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Executive Summary &amp; Regulatory Shifts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021681"/>
            <a:ext cx="49506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oppins SemiBold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2383631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48" y="2612231"/>
            <a:ext cx="4714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334155"/>
                </a:solidFill>
                <a:latin typeface="Lato"/>
              </a:rPr>
              <a:t>Between 2006 and 2026, India's fuel-vehicle industry was reshaped less by any single event than by the compounding effect of regulation, financing, and shifting consumer priorities. A market once driven by price and mileage now runs on safety ratings, connected features, and total cost of ownership.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49" y="3809999"/>
            <a:ext cx="4714875" cy="1500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334155"/>
                </a:solidFill>
                <a:latin typeface="Lato"/>
              </a:rPr>
              <a:t>Emission and safety mandates forced two technology generations in a decade; GST and EMI-led financing changed how vehicles are priced and bought; and the entry of EV-focused challengers alongside the exit of established players (GM, 2017) shows a market whose competitive structure is actively being rewritten. Field interviews confirm the shift toward EVs is real but gradual, bottlenecked more by infrastructure and affordability than by intent.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2021681"/>
            <a:ext cx="49506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oppins SemiBold"/>
              </a:rPr>
              <a:t>What Changed (2006-2026)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19875" y="2383631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9875" y="2516981"/>
            <a:ext cx="4714875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Regulation &amp; Policy: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BS-III (2005–10) to BS-IV (2010) to a direct leap to BS-VI in 2020, skipping BS-V entirely; GST (2017) simplified pricing; mandatory crash-test/safety norms (2017); National Vehicle Scrappage Policy (2021); ₹25,938 crore PLI scheme (2021) for components/batteries; E-Drive scheme (2023).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9875" y="3702843"/>
            <a:ext cx="4714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Lato"/>
              </a:rPr>
              <a:t>Technology:</a:t>
            </a:r>
            <a:r>
              <a:rPr sz="1125" b="0" i="0" u="none" dirty="0">
                <a:solidFill>
                  <a:srgbClr val="334155"/>
                </a:solidFill>
                <a:latin typeface="Lato"/>
              </a:rPr>
              <a:t> MPFI and common-rail diesel became standard through the 2010s; safety tech (airbags, ABS) went from premium add-on to mandatory by 2017; BS-VI (2020) forced a hardware generation shift; connected-car and ADAS features reached mass-market trims by the early 2020s.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4674393"/>
            <a:ext cx="4714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Lato"/>
              </a:rPr>
              <a:t>Competitive Landscape:</a:t>
            </a:r>
            <a:r>
              <a:rPr sz="1125" b="0" i="0" u="none" dirty="0">
                <a:solidFill>
                  <a:srgbClr val="334155"/>
                </a:solidFill>
                <a:latin typeface="Lato"/>
              </a:rPr>
              <a:t> Tata Nano (2008) and Tata's JLR acquisition opened the window; GM's 2017 exit showed how unforgiving the mass market had become; Kia and MG entered from 2019; Hyundai, Tata, and Mahindra built EV line-ups; Tesla's constrained 2025 entry closed the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97818"/>
            <a:ext cx="5286375" cy="447198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1597818"/>
            <a:ext cx="5286375" cy="44719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Market Disruptions &amp; Economic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883568"/>
            <a:ext cx="49506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oppins SemiBold"/>
              </a:rPr>
              <a:t>Consumer Behaviour &amp; Disruptions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2245518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50" y="2378868"/>
            <a:ext cx="4714875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Consumer Behaviour &amp; Financing: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The default step-up purchase moved from two-wheelers to entry-level hatchbacks, aided by EMI culture; preference moved decisively toward SUVs; diesel's share declined as BS-VI raised costs; car buying shifted from showroom-led discovery to online research and video reviews.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564731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Market Disruptions: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The 2008–09 global financial crisis dented demand; COVID-19 (2020) halted production; the 2020–23 chip shortage cut output by up to 40% at points, leaving orders unfulfilled industry-wide.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321968"/>
            <a:ext cx="4714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New Business Models: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The scrappage policy created a formal vehicle-recycling industry; subscription and long-term leasing emerged; digital-first, warranty-backed used-car platforms began formalising the resale market.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1883568"/>
            <a:ext cx="49506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oppins SemiBold"/>
              </a:rPr>
              <a:t>Why It Changed: Economics Behind the Shift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9875" y="2245518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4650" y="2424112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2426493"/>
            <a:ext cx="4524375" cy="6429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Lato"/>
              </a:rPr>
              <a:t>Regulatory intervention</a:t>
            </a:r>
            <a:r>
              <a:rPr sz="1125" b="0" i="0" u="none" dirty="0">
                <a:solidFill>
                  <a:srgbClr val="334155"/>
                </a:solidFill>
                <a:latin typeface="Lato"/>
              </a:rPr>
              <a:t> (BS-VI, safety mandates) acted as a forced cost shock, raising the industry's minimum efficient scale smaller players struggled to keep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318135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3183731"/>
            <a:ext cx="452437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Rising fuel prices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raised the effective price of driving, shifting demand along the elasticity curve toward mileage, CNG, hybrids, and now EVs.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650" y="3724275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726656"/>
            <a:ext cx="4524375" cy="6429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Lato"/>
              </a:rPr>
              <a:t>EMI-led financing</a:t>
            </a:r>
            <a:r>
              <a:rPr sz="1125" b="0" i="0" u="none" dirty="0">
                <a:solidFill>
                  <a:srgbClr val="334155"/>
                </a:solidFill>
                <a:latin typeface="Lato"/>
              </a:rPr>
              <a:t> lowered the effective upfront price barrier, pulling demand toward costlier SUVs and premium trims even as headline prices rose.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4481512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4483893"/>
            <a:ext cx="4524375" cy="6429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Lato"/>
              </a:rPr>
              <a:t>Entry and exit (GM)</a:t>
            </a:r>
            <a:r>
              <a:rPr sz="1125" b="0" i="0" u="none" dirty="0">
                <a:solidFill>
                  <a:srgbClr val="334155"/>
                </a:solidFill>
                <a:latin typeface="Lato"/>
              </a:rPr>
              <a:t> illustrate a contestable market: low switching costs and high consumer information punish manufacturers who misread demand.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5238750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0375" y="5241131"/>
            <a:ext cx="452437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0F172A"/>
                </a:solidFill>
                <a:latin typeface="Lato"/>
              </a:rPr>
              <a:t>Government policy</a:t>
            </a:r>
            <a:r>
              <a:rPr sz="1125" b="0" i="0" u="none" dirty="0">
                <a:solidFill>
                  <a:srgbClr val="334155"/>
                </a:solidFill>
                <a:latin typeface="Lato"/>
              </a:rPr>
              <a:t> (PLI, E-Drive, scrappage) functions as both a supply-side incentive and a demand-shaping tool.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081087"/>
            <a:ext cx="5286375" cy="5505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1462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Field Research, Outlook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366837"/>
            <a:ext cx="49506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oppins SemiBold"/>
              </a:rPr>
              <a:t>Field Research: What the Market Is Saying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728787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50" y="1862137"/>
            <a:ext cx="4714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Consumers (5 interviewed):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Unanimous shift from "price/mileage first" to safety, features, and total ownership cost. EMI is default. Rising fuel costs push choices toward CNG/hybrids/EVs, though charging access and resale uncertainty remain barriers.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833687"/>
            <a:ext cx="47148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Business Owners (2 interviewed):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Operations moved to CRMs. Competition includes online aggregators. Both are retrofitting workshops with high-voltage bays and expect 2035 revenue to lean heavily on EV service and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805237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Industry Expert:</a:t>
            </a:r>
            <a:r>
              <a:rPr sz="1125" b="0" i="0" u="none">
                <a:solidFill>
                  <a:srgbClr val="334155"/>
                </a:solidFill>
                <a:latin typeface="Lato"/>
              </a:rPr>
              <a:t> Confirms the structural shift to SUVs and electrified powertrains. Expects ICE and strong hybrids to retain highway dominance through 2035, while urban mobility becomes overwhelmingly electric.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705350"/>
            <a:ext cx="49506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oppins SemiBold"/>
              </a:rPr>
              <a:t>Conclusion: Strategic Takeaway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250" y="506730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250" y="5200650"/>
            <a:ext cx="47148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Fuel vehicles are not disappearing by 2035, but R&amp;D investment is shifting toward hybrid and EV platforms. Manufacturers who don't diversify risk losing share the same way GM lost it after misreading the mass market.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9875" y="1366837"/>
            <a:ext cx="49506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Poppins SemiBold"/>
              </a:rPr>
              <a:t>2035 Outlook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9875" y="1728787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4650" y="1907381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0375" y="1909762"/>
            <a:ext cx="4524375" cy="6429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Fuel vehicles will still make up the majority of India's fleet in 2035, but EVs are projected to move from roughly 2–5% to a mainstream 25–35% of new PV sales.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4650" y="2664618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0375" y="2667000"/>
            <a:ext cx="4524375" cy="642937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Policy direction is set: the government's 30% EV penetration target by 2030, backed by PLI and E-Drive, is a simultaneous demand- and supply-side push.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3421856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0375" y="3424237"/>
            <a:ext cx="452437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Battery costs are falling, but affordability remains a binding constraint, ruling out full EV dominance by 2035.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3964781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0375" y="3967162"/>
            <a:ext cx="452437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Import duty and localisation policy favour Indian-manufactured EVs over imports.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4650" y="4507706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0375" y="4510087"/>
            <a:ext cx="452437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Lato"/>
              </a:rPr>
              <a:t>The scrappage policy will cycle a meaningful share of the old fleet out for replacement in exactly the 2030–2035 window.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4650" y="5050631"/>
            <a:ext cx="857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0375" y="5053012"/>
            <a:ext cx="4524375" cy="428625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334155"/>
                </a:solidFill>
                <a:latin typeface="Lato"/>
              </a:rPr>
              <a:t>Charging infrastructure not battery cost — is the binding constraint outside major cities.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timeline of a road&#10;&#10;AI-generated content may be incorrect.">
            <a:extLst>
              <a:ext uri="{FF2B5EF4-FFF2-40B4-BE49-F238E27FC236}">
                <a16:creationId xmlns:a16="http://schemas.microsoft.com/office/drawing/2014/main" id="{AD8FE6CD-7BF0-E5A9-EFEA-81E67AECB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53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1864</Words>
  <Application>Microsoft Macintosh PowerPoint</Application>
  <PresentationFormat>Widescreen</PresentationFormat>
  <Paragraphs>126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Calibri</vt:lpstr>
      <vt:lpstr>Lato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Eshan Tandon</cp:lastModifiedBy>
  <cp:revision>5</cp:revision>
  <dcterms:created xsi:type="dcterms:W3CDTF">2013-01-27T09:14:16Z</dcterms:created>
  <dcterms:modified xsi:type="dcterms:W3CDTF">2026-09-04T08:26:54Z</dcterms:modified>
  <cp:category/>
</cp:coreProperties>
</file>